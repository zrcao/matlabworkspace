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9ED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261" d="100"/>
          <a:sy n="261" d="100"/>
        </p:scale>
        <p:origin x="-104" y="-10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3301-CB39-DC43-97BD-06445F9B8DB5}" type="datetimeFigureOut">
              <a:rPr lang="en-US" smtClean="0"/>
              <a:t>9/17/14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9F69A-EA46-CE47-9AED-DF592D609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061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3301-CB39-DC43-97BD-06445F9B8DB5}" type="datetimeFigureOut">
              <a:rPr lang="en-US" smtClean="0"/>
              <a:t>9/17/14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9F69A-EA46-CE47-9AED-DF592D609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03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3301-CB39-DC43-97BD-06445F9B8DB5}" type="datetimeFigureOut">
              <a:rPr lang="en-US" smtClean="0"/>
              <a:t>9/17/14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9F69A-EA46-CE47-9AED-DF592D609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96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3301-CB39-DC43-97BD-06445F9B8DB5}" type="datetimeFigureOut">
              <a:rPr lang="en-US" smtClean="0"/>
              <a:t>9/17/14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9F69A-EA46-CE47-9AED-DF592D609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336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3301-CB39-DC43-97BD-06445F9B8DB5}" type="datetimeFigureOut">
              <a:rPr lang="en-US" smtClean="0"/>
              <a:t>9/17/14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9F69A-EA46-CE47-9AED-DF592D609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682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3301-CB39-DC43-97BD-06445F9B8DB5}" type="datetimeFigureOut">
              <a:rPr lang="en-US" smtClean="0"/>
              <a:t>9/17/14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9F69A-EA46-CE47-9AED-DF592D609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595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3301-CB39-DC43-97BD-06445F9B8DB5}" type="datetimeFigureOut">
              <a:rPr lang="en-US" smtClean="0"/>
              <a:t>9/17/14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9F69A-EA46-CE47-9AED-DF592D609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984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3301-CB39-DC43-97BD-06445F9B8DB5}" type="datetimeFigureOut">
              <a:rPr lang="en-US" smtClean="0"/>
              <a:t>9/17/14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9F69A-EA46-CE47-9AED-DF592D609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378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3301-CB39-DC43-97BD-06445F9B8DB5}" type="datetimeFigureOut">
              <a:rPr lang="en-US" smtClean="0"/>
              <a:t>9/17/14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9F69A-EA46-CE47-9AED-DF592D609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655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3301-CB39-DC43-97BD-06445F9B8DB5}" type="datetimeFigureOut">
              <a:rPr lang="en-US" smtClean="0"/>
              <a:t>9/17/14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9F69A-EA46-CE47-9AED-DF592D609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681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3301-CB39-DC43-97BD-06445F9B8DB5}" type="datetimeFigureOut">
              <a:rPr lang="en-US" smtClean="0"/>
              <a:t>9/17/14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9F69A-EA46-CE47-9AED-DF592D609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419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5D3301-CB39-DC43-97BD-06445F9B8DB5}" type="datetimeFigureOut">
              <a:rPr lang="en-US" smtClean="0"/>
              <a:t>9/17/14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79F69A-EA46-CE47-9AED-DF592D609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726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866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9971"/>
            <a:ext cx="8229600" cy="3394472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Broadband wireless systems provide</a:t>
            </a:r>
          </a:p>
          <a:p>
            <a:pPr lvl="1"/>
            <a:r>
              <a:rPr lang="en-US" dirty="0" smtClean="0"/>
              <a:t>High data throughput</a:t>
            </a:r>
          </a:p>
          <a:p>
            <a:pPr lvl="1"/>
            <a:r>
              <a:rPr lang="en-US" dirty="0" smtClean="0"/>
              <a:t>Increased frequency diversity for assured communications</a:t>
            </a:r>
          </a:p>
          <a:p>
            <a:pPr lvl="1"/>
            <a:r>
              <a:rPr lang="en-US" dirty="0" smtClean="0"/>
              <a:t>Spread spectrum enables LPI/LPD</a:t>
            </a:r>
          </a:p>
          <a:p>
            <a:r>
              <a:rPr lang="en-US" dirty="0" smtClean="0"/>
              <a:t>However, tradition approach requires continuous spectrum to transmit and receive a broadband spectrum</a:t>
            </a:r>
          </a:p>
          <a:p>
            <a:pPr lvl="1"/>
            <a:r>
              <a:rPr lang="en-US" dirty="0" smtClean="0"/>
              <a:t>Spectrum resource is scarce</a:t>
            </a:r>
          </a:p>
          <a:p>
            <a:pPr lvl="1"/>
            <a:r>
              <a:rPr lang="en-US" dirty="0" smtClean="0"/>
              <a:t>Large truck of continuous spectrum is even less available</a:t>
            </a:r>
          </a:p>
          <a:p>
            <a:pPr lvl="1"/>
            <a:r>
              <a:rPr lang="en-US" dirty="0" smtClean="0"/>
              <a:t>Spectrum are fragmented</a:t>
            </a:r>
          </a:p>
          <a:p>
            <a:r>
              <a:rPr lang="en-US" dirty="0" smtClean="0"/>
              <a:t>Split transmission spectrum from the processing spectrum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473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Proposed Transceiver Scheme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274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Transmitter Power Amplifier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smtClean="0"/>
              <a:t>PMEPR &amp; PAPR</a:t>
            </a:r>
          </a:p>
          <a:p>
            <a:r>
              <a:rPr lang="en-US" dirty="0" smtClean="0"/>
              <a:t>Peak power to average power ratio is time-domain phenomenon </a:t>
            </a:r>
          </a:p>
          <a:p>
            <a:pPr lvl="1"/>
            <a:r>
              <a:rPr lang="en-US" dirty="0" smtClean="0"/>
              <a:t>Change sampling frequency would linear scale the bandwidth of individual segments as well as the space between segments without changing the PMEPR</a:t>
            </a:r>
          </a:p>
          <a:p>
            <a:pPr lvl="1"/>
            <a:r>
              <a:rPr lang="en-US" dirty="0" smtClean="0"/>
              <a:t>Thus, we could just investigate the PMEPR for a given total bandwidth with the following cases</a:t>
            </a:r>
          </a:p>
          <a:p>
            <a:pPr lvl="2"/>
            <a:r>
              <a:rPr lang="en-US" dirty="0" smtClean="0"/>
              <a:t>Equal segment bandwidth</a:t>
            </a:r>
          </a:p>
          <a:p>
            <a:pPr lvl="3"/>
            <a:r>
              <a:rPr lang="en-US" dirty="0"/>
              <a:t>F</a:t>
            </a:r>
            <a:r>
              <a:rPr lang="en-US" dirty="0" smtClean="0"/>
              <a:t>ix the number of segments, varying the space between segments</a:t>
            </a:r>
          </a:p>
          <a:p>
            <a:pPr lvl="4"/>
            <a:r>
              <a:rPr lang="en-US" dirty="0" smtClean="0"/>
              <a:t>Equal spacing</a:t>
            </a:r>
          </a:p>
          <a:p>
            <a:pPr lvl="4"/>
            <a:r>
              <a:rPr lang="en-US" dirty="0"/>
              <a:t>U</a:t>
            </a:r>
            <a:r>
              <a:rPr lang="en-US" dirty="0" smtClean="0"/>
              <a:t>nequal spacing</a:t>
            </a:r>
          </a:p>
          <a:p>
            <a:pPr lvl="3"/>
            <a:r>
              <a:rPr lang="en-US" dirty="0" smtClean="0"/>
              <a:t>Fix the space between segments, varying the number of segments</a:t>
            </a:r>
          </a:p>
          <a:p>
            <a:pPr lvl="4"/>
            <a:r>
              <a:rPr lang="en-US" dirty="0" smtClean="0"/>
              <a:t>Equal spacing</a:t>
            </a:r>
          </a:p>
          <a:p>
            <a:pPr lvl="4"/>
            <a:r>
              <a:rPr lang="en-US" dirty="0" smtClean="0"/>
              <a:t>Unequal spacing</a:t>
            </a:r>
          </a:p>
          <a:p>
            <a:pPr lvl="2"/>
            <a:r>
              <a:rPr lang="en-US" dirty="0" smtClean="0"/>
              <a:t>Unequal </a:t>
            </a:r>
            <a:r>
              <a:rPr lang="en-US" smtClean="0"/>
              <a:t>segment bandwidth</a:t>
            </a:r>
            <a:endParaRPr lang="en-US" dirty="0" smtClean="0"/>
          </a:p>
          <a:p>
            <a:pPr lvl="3"/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065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/>
          <p:cNvGrpSpPr/>
          <p:nvPr/>
        </p:nvGrpSpPr>
        <p:grpSpPr>
          <a:xfrm>
            <a:off x="660895" y="907015"/>
            <a:ext cx="2477527" cy="811666"/>
            <a:chOff x="660895" y="1271965"/>
            <a:chExt cx="2477527" cy="811666"/>
          </a:xfrm>
        </p:grpSpPr>
        <p:cxnSp>
          <p:nvCxnSpPr>
            <p:cNvPr id="8" name="Straight Arrow Connector 7"/>
            <p:cNvCxnSpPr/>
            <p:nvPr/>
          </p:nvCxnSpPr>
          <p:spPr>
            <a:xfrm flipV="1">
              <a:off x="660895" y="1829717"/>
              <a:ext cx="2477527" cy="486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rapezoid 5"/>
            <p:cNvSpPr/>
            <p:nvPr/>
          </p:nvSpPr>
          <p:spPr>
            <a:xfrm>
              <a:off x="1616387" y="1542989"/>
              <a:ext cx="161984" cy="286728"/>
            </a:xfrm>
            <a:prstGeom prst="trapezoid">
              <a:avLst/>
            </a:prstGeom>
            <a:solidFill>
              <a:srgbClr val="F9ED59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/>
            <p:cNvCxnSpPr>
              <a:stCxn id="6" idx="0"/>
              <a:endCxn id="6" idx="2"/>
            </p:cNvCxnSpPr>
            <p:nvPr/>
          </p:nvCxnSpPr>
          <p:spPr>
            <a:xfrm>
              <a:off x="1697379" y="1542989"/>
              <a:ext cx="0" cy="286728"/>
            </a:xfrm>
            <a:prstGeom prst="line">
              <a:avLst/>
            </a:prstGeom>
            <a:ln w="3175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764232" y="1806632"/>
              <a:ext cx="2786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 smtClean="0">
                  <a:latin typeface="Microsoft Sans Serif"/>
                  <a:cs typeface="Microsoft Sans Serif"/>
                </a:rPr>
                <a:t>f</a:t>
              </a:r>
              <a:r>
                <a:rPr lang="en-US" sz="1200" baseline="-25000" dirty="0" smtClean="0">
                  <a:latin typeface="Microsoft Sans Serif"/>
                  <a:cs typeface="Microsoft Sans Serif"/>
                </a:rPr>
                <a:t>1</a:t>
              </a:r>
              <a:endParaRPr lang="en-US" sz="1200" baseline="-25000" dirty="0">
                <a:latin typeface="Microsoft Sans Serif"/>
                <a:cs typeface="Microsoft Sans Serif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33529" y="1271966"/>
              <a:ext cx="3400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>
                  <a:latin typeface="Microsoft Sans Serif"/>
                  <a:cs typeface="Microsoft Sans Serif"/>
                </a:rPr>
                <a:t>S</a:t>
              </a:r>
              <a:r>
                <a:rPr lang="en-US" sz="1200" baseline="-25000" dirty="0" smtClean="0">
                  <a:latin typeface="Microsoft Sans Serif"/>
                  <a:cs typeface="Microsoft Sans Serif"/>
                </a:rPr>
                <a:t>1</a:t>
              </a:r>
              <a:endParaRPr lang="en-US" sz="1200" baseline="-25000" dirty="0">
                <a:latin typeface="Microsoft Sans Serif"/>
                <a:cs typeface="Microsoft Sans Serif"/>
              </a:endParaRPr>
            </a:p>
          </p:txBody>
        </p:sp>
        <p:sp>
          <p:nvSpPr>
            <p:cNvPr id="22" name="Trapezoid 21"/>
            <p:cNvSpPr/>
            <p:nvPr/>
          </p:nvSpPr>
          <p:spPr>
            <a:xfrm>
              <a:off x="778037" y="1542991"/>
              <a:ext cx="251001" cy="286728"/>
            </a:xfrm>
            <a:prstGeom prst="trapezoid">
              <a:avLst/>
            </a:prstGeom>
            <a:solidFill>
              <a:srgbClr val="F9ED59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22"/>
            <p:cNvCxnSpPr>
              <a:stCxn id="22" idx="0"/>
              <a:endCxn id="22" idx="2"/>
            </p:cNvCxnSpPr>
            <p:nvPr/>
          </p:nvCxnSpPr>
          <p:spPr>
            <a:xfrm>
              <a:off x="903538" y="1542991"/>
              <a:ext cx="0" cy="286728"/>
            </a:xfrm>
            <a:prstGeom prst="line">
              <a:avLst/>
            </a:prstGeom>
            <a:ln w="3175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1558074" y="1806631"/>
              <a:ext cx="2786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 smtClean="0">
                  <a:latin typeface="Microsoft Sans Serif"/>
                  <a:cs typeface="Microsoft Sans Serif"/>
                </a:rPr>
                <a:t>f</a:t>
              </a:r>
              <a:r>
                <a:rPr lang="en-US" sz="1200" baseline="-25000" dirty="0">
                  <a:latin typeface="Microsoft Sans Serif"/>
                  <a:cs typeface="Microsoft Sans Serif"/>
                </a:rPr>
                <a:t>2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527372" y="1271965"/>
              <a:ext cx="3400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 smtClean="0">
                  <a:latin typeface="Microsoft Sans Serif"/>
                  <a:cs typeface="Microsoft Sans Serif"/>
                </a:rPr>
                <a:t>S</a:t>
              </a:r>
              <a:r>
                <a:rPr lang="en-US" sz="1200" baseline="-25000" dirty="0">
                  <a:latin typeface="Microsoft Sans Serif"/>
                  <a:cs typeface="Microsoft Sans Serif"/>
                </a:rPr>
                <a:t>2</a:t>
              </a:r>
            </a:p>
          </p:txBody>
        </p:sp>
        <p:grpSp>
          <p:nvGrpSpPr>
            <p:cNvPr id="25" name="Group 24"/>
            <p:cNvGrpSpPr/>
            <p:nvPr/>
          </p:nvGrpSpPr>
          <p:grpSpPr>
            <a:xfrm>
              <a:off x="2035298" y="1542989"/>
              <a:ext cx="297638" cy="286728"/>
              <a:chOff x="1347709" y="2063799"/>
              <a:chExt cx="161984" cy="382304"/>
            </a:xfrm>
          </p:grpSpPr>
          <p:sp>
            <p:nvSpPr>
              <p:cNvPr id="28" name="Trapezoid 27"/>
              <p:cNvSpPr/>
              <p:nvPr/>
            </p:nvSpPr>
            <p:spPr>
              <a:xfrm>
                <a:off x="1347709" y="2063799"/>
                <a:ext cx="161984" cy="382304"/>
              </a:xfrm>
              <a:prstGeom prst="trapezoid">
                <a:avLst/>
              </a:prstGeom>
              <a:solidFill>
                <a:srgbClr val="F9ED59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9" name="Straight Connector 28"/>
              <p:cNvCxnSpPr>
                <a:stCxn id="28" idx="0"/>
                <a:endCxn id="28" idx="2"/>
              </p:cNvCxnSpPr>
              <p:nvPr/>
            </p:nvCxnSpPr>
            <p:spPr>
              <a:xfrm>
                <a:off x="1428701" y="2063799"/>
                <a:ext cx="0" cy="382304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TextBox 25"/>
            <p:cNvSpPr txBox="1"/>
            <p:nvPr/>
          </p:nvSpPr>
          <p:spPr>
            <a:xfrm>
              <a:off x="2044812" y="1806631"/>
              <a:ext cx="2786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 smtClean="0">
                  <a:latin typeface="Microsoft Sans Serif"/>
                  <a:cs typeface="Microsoft Sans Serif"/>
                </a:rPr>
                <a:t>f</a:t>
              </a:r>
              <a:r>
                <a:rPr lang="en-US" sz="1200" baseline="-25000" dirty="0">
                  <a:latin typeface="Microsoft Sans Serif"/>
                  <a:cs typeface="Microsoft Sans Serif"/>
                </a:rPr>
                <a:t>3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014110" y="1271965"/>
              <a:ext cx="3400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 smtClean="0">
                  <a:latin typeface="Microsoft Sans Serif"/>
                  <a:cs typeface="Microsoft Sans Serif"/>
                </a:rPr>
                <a:t>S</a:t>
              </a:r>
              <a:r>
                <a:rPr lang="en-US" sz="1200" baseline="-25000" dirty="0">
                  <a:latin typeface="Microsoft Sans Serif"/>
                  <a:cs typeface="Microsoft Sans Serif"/>
                </a:rPr>
                <a:t>3</a:t>
              </a: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338343" y="544895"/>
            <a:ext cx="1887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smtClean="0">
                <a:latin typeface="Microsoft Sans Serif"/>
                <a:cs typeface="Microsoft Sans Serif"/>
              </a:rPr>
              <a:t>S</a:t>
            </a:r>
            <a:r>
              <a:rPr lang="en-US" sz="1200" dirty="0" smtClean="0">
                <a:latin typeface="Microsoft Sans Serif"/>
                <a:cs typeface="Microsoft Sans Serif"/>
              </a:rPr>
              <a:t>(</a:t>
            </a:r>
            <a:r>
              <a:rPr lang="en-US" sz="1200" i="1" dirty="0" smtClean="0">
                <a:latin typeface="Microsoft Sans Serif"/>
                <a:cs typeface="Microsoft Sans Serif"/>
              </a:rPr>
              <a:t>t </a:t>
            </a:r>
            <a:r>
              <a:rPr lang="en-US" sz="1200" dirty="0" smtClean="0">
                <a:latin typeface="Microsoft Sans Serif"/>
                <a:cs typeface="Microsoft Sans Serif"/>
              </a:rPr>
              <a:t>) = </a:t>
            </a:r>
            <a:r>
              <a:rPr lang="en-US" sz="1200" i="1" dirty="0" smtClean="0">
                <a:latin typeface="Microsoft Sans Serif"/>
                <a:cs typeface="Microsoft Sans Serif"/>
              </a:rPr>
              <a:t>S</a:t>
            </a:r>
            <a:r>
              <a:rPr lang="en-US" sz="1200" baseline="-25000" dirty="0" smtClean="0">
                <a:latin typeface="Microsoft Sans Serif"/>
                <a:cs typeface="Microsoft Sans Serif"/>
              </a:rPr>
              <a:t>1</a:t>
            </a:r>
            <a:r>
              <a:rPr lang="en-US" sz="1200" dirty="0" smtClean="0">
                <a:latin typeface="Microsoft Sans Serif"/>
                <a:cs typeface="Microsoft Sans Serif"/>
              </a:rPr>
              <a:t>(</a:t>
            </a:r>
            <a:r>
              <a:rPr lang="en-US" sz="1200" i="1" dirty="0" smtClean="0">
                <a:latin typeface="Microsoft Sans Serif"/>
                <a:cs typeface="Microsoft Sans Serif"/>
              </a:rPr>
              <a:t>t </a:t>
            </a:r>
            <a:r>
              <a:rPr lang="en-US" sz="1200" dirty="0" smtClean="0">
                <a:latin typeface="Microsoft Sans Serif"/>
                <a:cs typeface="Microsoft Sans Serif"/>
              </a:rPr>
              <a:t>)+</a:t>
            </a:r>
            <a:r>
              <a:rPr lang="en-US" sz="1200" i="1" dirty="0" smtClean="0">
                <a:latin typeface="Microsoft Sans Serif"/>
                <a:cs typeface="Microsoft Sans Serif"/>
              </a:rPr>
              <a:t>S</a:t>
            </a:r>
            <a:r>
              <a:rPr lang="en-US" sz="1200" baseline="-25000" dirty="0" smtClean="0">
                <a:latin typeface="Microsoft Sans Serif"/>
                <a:cs typeface="Microsoft Sans Serif"/>
              </a:rPr>
              <a:t>2</a:t>
            </a:r>
            <a:r>
              <a:rPr lang="en-US" sz="1200" dirty="0" smtClean="0">
                <a:latin typeface="Microsoft Sans Serif"/>
                <a:cs typeface="Microsoft Sans Serif"/>
              </a:rPr>
              <a:t>(</a:t>
            </a:r>
            <a:r>
              <a:rPr lang="en-US" sz="1200" i="1" dirty="0" smtClean="0">
                <a:latin typeface="Microsoft Sans Serif"/>
                <a:cs typeface="Microsoft Sans Serif"/>
              </a:rPr>
              <a:t>t </a:t>
            </a:r>
            <a:r>
              <a:rPr lang="en-US" sz="1200" dirty="0" smtClean="0">
                <a:latin typeface="Microsoft Sans Serif"/>
                <a:cs typeface="Microsoft Sans Serif"/>
              </a:rPr>
              <a:t>)+</a:t>
            </a:r>
            <a:r>
              <a:rPr lang="en-US" sz="1200" i="1" dirty="0" smtClean="0">
                <a:latin typeface="Microsoft Sans Serif"/>
                <a:cs typeface="Microsoft Sans Serif"/>
              </a:rPr>
              <a:t>S</a:t>
            </a:r>
            <a:r>
              <a:rPr lang="en-US" sz="1200" baseline="-25000" dirty="0" smtClean="0">
                <a:latin typeface="Microsoft Sans Serif"/>
                <a:cs typeface="Microsoft Sans Serif"/>
              </a:rPr>
              <a:t>3</a:t>
            </a:r>
            <a:r>
              <a:rPr lang="en-US" sz="1200" dirty="0" smtClean="0">
                <a:latin typeface="Microsoft Sans Serif"/>
                <a:cs typeface="Microsoft Sans Serif"/>
              </a:rPr>
              <a:t>(</a:t>
            </a:r>
            <a:r>
              <a:rPr lang="en-US" sz="1200" i="1" dirty="0" smtClean="0">
                <a:latin typeface="Microsoft Sans Serif"/>
                <a:cs typeface="Microsoft Sans Serif"/>
              </a:rPr>
              <a:t>t </a:t>
            </a:r>
            <a:r>
              <a:rPr lang="en-US" sz="1200" dirty="0" smtClean="0">
                <a:latin typeface="Microsoft Sans Serif"/>
                <a:cs typeface="Microsoft Sans Serif"/>
              </a:rPr>
              <a:t>)</a:t>
            </a:r>
            <a:endParaRPr lang="en-US" sz="1200" baseline="-25000" dirty="0">
              <a:latin typeface="Microsoft Sans Serif"/>
              <a:cs typeface="Microsoft Sans Serif"/>
            </a:endParaRPr>
          </a:p>
        </p:txBody>
      </p:sp>
      <p:grpSp>
        <p:nvGrpSpPr>
          <p:cNvPr id="41" name="Group 40"/>
          <p:cNvGrpSpPr/>
          <p:nvPr/>
        </p:nvGrpSpPr>
        <p:grpSpPr>
          <a:xfrm>
            <a:off x="3423069" y="1001803"/>
            <a:ext cx="956034" cy="276999"/>
            <a:chOff x="4210326" y="1796520"/>
            <a:chExt cx="956034" cy="369332"/>
          </a:xfrm>
        </p:grpSpPr>
        <p:sp>
          <p:nvSpPr>
            <p:cNvPr id="32" name="TextBox 31"/>
            <p:cNvSpPr txBox="1"/>
            <p:nvPr/>
          </p:nvSpPr>
          <p:spPr>
            <a:xfrm>
              <a:off x="4210326" y="1796520"/>
              <a:ext cx="3900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 smtClean="0">
                  <a:latin typeface="Microsoft Sans Serif"/>
                  <a:cs typeface="Microsoft Sans Serif"/>
                </a:rPr>
                <a:t>S</a:t>
              </a:r>
              <a:r>
                <a:rPr lang="en-US" sz="1200" baseline="-25000" dirty="0" smtClean="0">
                  <a:latin typeface="Microsoft Sans Serif"/>
                  <a:cs typeface="Microsoft Sans Serif"/>
                </a:rPr>
                <a:t>1</a:t>
              </a:r>
              <a:r>
                <a:rPr lang="en-US" sz="1200" dirty="0" smtClean="0">
                  <a:latin typeface="Microsoft Sans Serif"/>
                  <a:cs typeface="Microsoft Sans Serif"/>
                </a:rPr>
                <a:t>:</a:t>
              </a:r>
              <a:endParaRPr lang="en-US" sz="1200" dirty="0">
                <a:latin typeface="Microsoft Sans Serif"/>
                <a:cs typeface="Microsoft Sans Serif"/>
              </a:endParaRPr>
            </a:p>
          </p:txBody>
        </p:sp>
        <p:sp>
          <p:nvSpPr>
            <p:cNvPr id="36" name="Freeform 35"/>
            <p:cNvSpPr/>
            <p:nvPr/>
          </p:nvSpPr>
          <p:spPr>
            <a:xfrm>
              <a:off x="4684727" y="1827616"/>
              <a:ext cx="481633" cy="214809"/>
            </a:xfrm>
            <a:custGeom>
              <a:avLst/>
              <a:gdLst>
                <a:gd name="connsiteX0" fmla="*/ 0 w 397401"/>
                <a:gd name="connsiteY0" fmla="*/ 105784 h 301153"/>
                <a:gd name="connsiteX1" fmla="*/ 71273 w 397401"/>
                <a:gd name="connsiteY1" fmla="*/ 164101 h 301153"/>
                <a:gd name="connsiteX2" fmla="*/ 136067 w 397401"/>
                <a:gd name="connsiteY2" fmla="*/ 2108 h 301153"/>
                <a:gd name="connsiteX3" fmla="*/ 213819 w 397401"/>
                <a:gd name="connsiteY3" fmla="*/ 300176 h 301153"/>
                <a:gd name="connsiteX4" fmla="*/ 272133 w 397401"/>
                <a:gd name="connsiteY4" fmla="*/ 99304 h 301153"/>
                <a:gd name="connsiteX5" fmla="*/ 388762 w 397401"/>
                <a:gd name="connsiteY5" fmla="*/ 138182 h 301153"/>
                <a:gd name="connsiteX6" fmla="*/ 388762 w 397401"/>
                <a:gd name="connsiteY6" fmla="*/ 144662 h 301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7401" h="301153">
                  <a:moveTo>
                    <a:pt x="0" y="105784"/>
                  </a:moveTo>
                  <a:cubicBezTo>
                    <a:pt x="24297" y="143582"/>
                    <a:pt x="48595" y="181380"/>
                    <a:pt x="71273" y="164101"/>
                  </a:cubicBezTo>
                  <a:cubicBezTo>
                    <a:pt x="93951" y="146822"/>
                    <a:pt x="112309" y="-20571"/>
                    <a:pt x="136067" y="2108"/>
                  </a:cubicBezTo>
                  <a:cubicBezTo>
                    <a:pt x="159825" y="24787"/>
                    <a:pt x="191141" y="283977"/>
                    <a:pt x="213819" y="300176"/>
                  </a:cubicBezTo>
                  <a:cubicBezTo>
                    <a:pt x="236497" y="316375"/>
                    <a:pt x="242976" y="126303"/>
                    <a:pt x="272133" y="99304"/>
                  </a:cubicBezTo>
                  <a:cubicBezTo>
                    <a:pt x="301290" y="72305"/>
                    <a:pt x="369324" y="130622"/>
                    <a:pt x="388762" y="138182"/>
                  </a:cubicBezTo>
                  <a:cubicBezTo>
                    <a:pt x="408200" y="145742"/>
                    <a:pt x="388762" y="144662"/>
                    <a:pt x="388762" y="144662"/>
                  </a:cubicBezTo>
                </a:path>
              </a:pathLst>
            </a:custGeom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3423069" y="1281383"/>
            <a:ext cx="3900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smtClean="0">
                <a:latin typeface="Microsoft Sans Serif"/>
                <a:cs typeface="Microsoft Sans Serif"/>
              </a:rPr>
              <a:t>S</a:t>
            </a:r>
            <a:r>
              <a:rPr lang="en-US" sz="1200" baseline="-25000" dirty="0">
                <a:latin typeface="Microsoft Sans Serif"/>
                <a:cs typeface="Microsoft Sans Serif"/>
              </a:rPr>
              <a:t>2</a:t>
            </a:r>
            <a:r>
              <a:rPr lang="en-US" sz="1200" dirty="0" smtClean="0">
                <a:latin typeface="Microsoft Sans Serif"/>
                <a:cs typeface="Microsoft Sans Serif"/>
              </a:rPr>
              <a:t>:</a:t>
            </a:r>
            <a:endParaRPr lang="en-US" sz="1200" dirty="0">
              <a:latin typeface="Microsoft Sans Serif"/>
              <a:cs typeface="Microsoft Sans Serif"/>
            </a:endParaRPr>
          </a:p>
        </p:txBody>
      </p:sp>
      <p:sp>
        <p:nvSpPr>
          <p:cNvPr id="39" name="Freeform 38"/>
          <p:cNvSpPr/>
          <p:nvPr/>
        </p:nvSpPr>
        <p:spPr>
          <a:xfrm>
            <a:off x="3892072" y="1320080"/>
            <a:ext cx="492431" cy="130354"/>
          </a:xfrm>
          <a:custGeom>
            <a:avLst/>
            <a:gdLst>
              <a:gd name="connsiteX0" fmla="*/ 0 w 492431"/>
              <a:gd name="connsiteY0" fmla="*/ 50092 h 173805"/>
              <a:gd name="connsiteX1" fmla="*/ 200860 w 492431"/>
              <a:gd name="connsiteY1" fmla="*/ 173207 h 173805"/>
              <a:gd name="connsiteX2" fmla="*/ 336927 w 492431"/>
              <a:gd name="connsiteY2" fmla="*/ 4734 h 173805"/>
              <a:gd name="connsiteX3" fmla="*/ 492431 w 492431"/>
              <a:gd name="connsiteY3" fmla="*/ 63052 h 173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2431" h="173805">
                <a:moveTo>
                  <a:pt x="0" y="50092"/>
                </a:moveTo>
                <a:cubicBezTo>
                  <a:pt x="72353" y="115429"/>
                  <a:pt x="144706" y="180767"/>
                  <a:pt x="200860" y="173207"/>
                </a:cubicBezTo>
                <a:cubicBezTo>
                  <a:pt x="257014" y="165647"/>
                  <a:pt x="288332" y="23093"/>
                  <a:pt x="336927" y="4734"/>
                </a:cubicBezTo>
                <a:cubicBezTo>
                  <a:pt x="385522" y="-13625"/>
                  <a:pt x="438976" y="24713"/>
                  <a:pt x="492431" y="63052"/>
                </a:cubicBezTo>
              </a:path>
            </a:pathLst>
          </a:custGeom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 37"/>
          <p:cNvSpPr/>
          <p:nvPr/>
        </p:nvSpPr>
        <p:spPr>
          <a:xfrm>
            <a:off x="3900562" y="1560964"/>
            <a:ext cx="475451" cy="217667"/>
          </a:xfrm>
          <a:custGeom>
            <a:avLst/>
            <a:gdLst>
              <a:gd name="connsiteX0" fmla="*/ 0 w 475451"/>
              <a:gd name="connsiteY0" fmla="*/ 10036 h 348841"/>
              <a:gd name="connsiteX1" fmla="*/ 77753 w 475451"/>
              <a:gd name="connsiteY1" fmla="*/ 346982 h 348841"/>
              <a:gd name="connsiteX2" fmla="*/ 116629 w 475451"/>
              <a:gd name="connsiteY2" fmla="*/ 152590 h 348841"/>
              <a:gd name="connsiteX3" fmla="*/ 194381 w 475451"/>
              <a:gd name="connsiteY3" fmla="*/ 308104 h 348841"/>
              <a:gd name="connsiteX4" fmla="*/ 226778 w 475451"/>
              <a:gd name="connsiteY4" fmla="*/ 3556 h 348841"/>
              <a:gd name="connsiteX5" fmla="*/ 265654 w 475451"/>
              <a:gd name="connsiteY5" fmla="*/ 139630 h 348841"/>
              <a:gd name="connsiteX6" fmla="*/ 349886 w 475451"/>
              <a:gd name="connsiteY6" fmla="*/ 107232 h 348841"/>
              <a:gd name="connsiteX7" fmla="*/ 382283 w 475451"/>
              <a:gd name="connsiteY7" fmla="*/ 204428 h 348841"/>
              <a:gd name="connsiteX8" fmla="*/ 466515 w 475451"/>
              <a:gd name="connsiteY8" fmla="*/ 230347 h 348841"/>
              <a:gd name="connsiteX9" fmla="*/ 472994 w 475451"/>
              <a:gd name="connsiteY9" fmla="*/ 230347 h 348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5451" h="348841">
                <a:moveTo>
                  <a:pt x="0" y="10036"/>
                </a:moveTo>
                <a:cubicBezTo>
                  <a:pt x="29157" y="166629"/>
                  <a:pt x="58315" y="323223"/>
                  <a:pt x="77753" y="346982"/>
                </a:cubicBezTo>
                <a:cubicBezTo>
                  <a:pt x="97191" y="370741"/>
                  <a:pt x="97191" y="159070"/>
                  <a:pt x="116629" y="152590"/>
                </a:cubicBezTo>
                <a:cubicBezTo>
                  <a:pt x="136067" y="146110"/>
                  <a:pt x="176023" y="332943"/>
                  <a:pt x="194381" y="308104"/>
                </a:cubicBezTo>
                <a:cubicBezTo>
                  <a:pt x="212739" y="283265"/>
                  <a:pt x="214899" y="31635"/>
                  <a:pt x="226778" y="3556"/>
                </a:cubicBezTo>
                <a:cubicBezTo>
                  <a:pt x="238657" y="-24523"/>
                  <a:pt x="245136" y="122351"/>
                  <a:pt x="265654" y="139630"/>
                </a:cubicBezTo>
                <a:cubicBezTo>
                  <a:pt x="286172" y="156909"/>
                  <a:pt x="330448" y="96432"/>
                  <a:pt x="349886" y="107232"/>
                </a:cubicBezTo>
                <a:cubicBezTo>
                  <a:pt x="369324" y="118032"/>
                  <a:pt x="362845" y="183909"/>
                  <a:pt x="382283" y="204428"/>
                </a:cubicBezTo>
                <a:cubicBezTo>
                  <a:pt x="401721" y="224947"/>
                  <a:pt x="451397" y="226027"/>
                  <a:pt x="466515" y="230347"/>
                </a:cubicBezTo>
                <a:cubicBezTo>
                  <a:pt x="481633" y="234667"/>
                  <a:pt x="472994" y="230347"/>
                  <a:pt x="472994" y="230347"/>
                </a:cubicBezTo>
              </a:path>
            </a:pathLst>
          </a:custGeom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3423069" y="1565923"/>
            <a:ext cx="3900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smtClean="0">
                <a:latin typeface="Microsoft Sans Serif"/>
                <a:cs typeface="Microsoft Sans Serif"/>
              </a:rPr>
              <a:t>S</a:t>
            </a:r>
            <a:r>
              <a:rPr lang="en-US" sz="1200" baseline="-25000" dirty="0" smtClean="0">
                <a:latin typeface="Microsoft Sans Serif"/>
                <a:cs typeface="Microsoft Sans Serif"/>
              </a:rPr>
              <a:t>3</a:t>
            </a:r>
            <a:r>
              <a:rPr lang="en-US" sz="1200" dirty="0" smtClean="0">
                <a:latin typeface="Microsoft Sans Serif"/>
                <a:cs typeface="Microsoft Sans Serif"/>
              </a:rPr>
              <a:t>:</a:t>
            </a:r>
            <a:endParaRPr lang="en-US" sz="1200" dirty="0">
              <a:latin typeface="Microsoft Sans Serif"/>
              <a:cs typeface="Microsoft Sans Serif"/>
            </a:endParaRPr>
          </a:p>
        </p:txBody>
      </p:sp>
      <p:grpSp>
        <p:nvGrpSpPr>
          <p:cNvPr id="48" name="Group 47"/>
          <p:cNvGrpSpPr/>
          <p:nvPr/>
        </p:nvGrpSpPr>
        <p:grpSpPr>
          <a:xfrm>
            <a:off x="3031375" y="510555"/>
            <a:ext cx="1479103" cy="400110"/>
            <a:chOff x="3644557" y="1267765"/>
            <a:chExt cx="1479103" cy="533479"/>
          </a:xfrm>
        </p:grpSpPr>
        <p:sp>
          <p:nvSpPr>
            <p:cNvPr id="45" name="TextBox 44"/>
            <p:cNvSpPr txBox="1"/>
            <p:nvPr/>
          </p:nvSpPr>
          <p:spPr>
            <a:xfrm>
              <a:off x="3644557" y="1267765"/>
              <a:ext cx="1479103" cy="5334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 i="1">
                  <a:latin typeface="Microsoft Sans Serif"/>
                  <a:cs typeface="Microsoft Sans Serif"/>
                </a:defRPr>
              </a:lvl1pPr>
            </a:lstStyle>
            <a:p>
              <a:pPr algn="r"/>
              <a:r>
                <a:rPr lang="en-US" sz="1000" i="0" dirty="0"/>
                <a:t>Power Envelope </a:t>
              </a:r>
            </a:p>
            <a:p>
              <a:pPr algn="r"/>
              <a:r>
                <a:rPr lang="en-US" sz="1000" i="0" dirty="0"/>
                <a:t>o</a:t>
              </a:r>
              <a:r>
                <a:rPr lang="en-US" sz="1000" i="0" dirty="0" smtClean="0"/>
                <a:t>f Individual Segment</a:t>
              </a:r>
            </a:p>
          </p:txBody>
        </p:sp>
        <p:cxnSp>
          <p:nvCxnSpPr>
            <p:cNvPr id="47" name="Straight Connector 46"/>
            <p:cNvCxnSpPr/>
            <p:nvPr/>
          </p:nvCxnSpPr>
          <p:spPr>
            <a:xfrm flipV="1">
              <a:off x="3748349" y="1787822"/>
              <a:ext cx="1286620" cy="1"/>
            </a:xfrm>
            <a:prstGeom prst="line">
              <a:avLst/>
            </a:prstGeom>
            <a:ln w="9525" cmpd="sng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Right Brace 48"/>
          <p:cNvSpPr/>
          <p:nvPr/>
        </p:nvSpPr>
        <p:spPr>
          <a:xfrm>
            <a:off x="4461033" y="1054282"/>
            <a:ext cx="123107" cy="694707"/>
          </a:xfrm>
          <a:prstGeom prst="rightBrace">
            <a:avLst/>
          </a:prstGeom>
          <a:ln w="9525" cmpd="sng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Plus 49"/>
          <p:cNvSpPr/>
          <p:nvPr/>
        </p:nvSpPr>
        <p:spPr>
          <a:xfrm>
            <a:off x="4606776" y="1318264"/>
            <a:ext cx="161984" cy="166742"/>
          </a:xfrm>
          <a:prstGeom prst="mathPlus">
            <a:avLst/>
          </a:prstGeom>
          <a:solidFill>
            <a:schemeClr val="tx1"/>
          </a:solidFill>
          <a:ln w="9525" cmpd="sng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687819" y="1263136"/>
            <a:ext cx="1671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i="1">
                <a:latin typeface="Microsoft Sans Serif"/>
                <a:cs typeface="Microsoft Sans Serif"/>
              </a:defRPr>
            </a:lvl1pPr>
          </a:lstStyle>
          <a:p>
            <a:pPr algn="r"/>
            <a:r>
              <a:rPr lang="en-US" i="0" dirty="0"/>
              <a:t>i</a:t>
            </a:r>
            <a:r>
              <a:rPr lang="en-US" i="0" dirty="0" smtClean="0"/>
              <a:t>s the upper bound of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40025" y="1263136"/>
            <a:ext cx="3900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smtClean="0">
                <a:latin typeface="Microsoft Sans Serif"/>
                <a:cs typeface="Microsoft Sans Serif"/>
              </a:rPr>
              <a:t>S</a:t>
            </a:r>
            <a:r>
              <a:rPr lang="en-US" sz="1200" dirty="0" smtClean="0">
                <a:latin typeface="Microsoft Sans Serif"/>
                <a:cs typeface="Microsoft Sans Serif"/>
              </a:rPr>
              <a:t>:</a:t>
            </a:r>
            <a:endParaRPr lang="en-US" sz="1200" dirty="0">
              <a:latin typeface="Microsoft Sans Serif"/>
              <a:cs typeface="Microsoft Sans Serif"/>
            </a:endParaRPr>
          </a:p>
        </p:txBody>
      </p:sp>
      <p:grpSp>
        <p:nvGrpSpPr>
          <p:cNvPr id="60" name="Group 59"/>
          <p:cNvGrpSpPr/>
          <p:nvPr/>
        </p:nvGrpSpPr>
        <p:grpSpPr>
          <a:xfrm>
            <a:off x="5839141" y="662952"/>
            <a:ext cx="1394774" cy="400110"/>
            <a:chOff x="3728886" y="1267765"/>
            <a:chExt cx="1394774" cy="533480"/>
          </a:xfrm>
        </p:grpSpPr>
        <p:sp>
          <p:nvSpPr>
            <p:cNvPr id="61" name="TextBox 60"/>
            <p:cNvSpPr txBox="1"/>
            <p:nvPr/>
          </p:nvSpPr>
          <p:spPr>
            <a:xfrm>
              <a:off x="3728886" y="1267765"/>
              <a:ext cx="1394774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 i="1">
                  <a:latin typeface="Microsoft Sans Serif"/>
                  <a:cs typeface="Microsoft Sans Serif"/>
                </a:defRPr>
              </a:lvl1pPr>
            </a:lstStyle>
            <a:p>
              <a:pPr algn="r"/>
              <a:r>
                <a:rPr lang="en-US" sz="1000" i="0" dirty="0" smtClean="0"/>
                <a:t>Power Envelope</a:t>
              </a:r>
            </a:p>
            <a:p>
              <a:pPr algn="r"/>
              <a:r>
                <a:rPr lang="en-US" sz="1000" i="0" dirty="0" smtClean="0"/>
                <a:t>of Segments Sum</a:t>
              </a:r>
            </a:p>
          </p:txBody>
        </p:sp>
        <p:cxnSp>
          <p:nvCxnSpPr>
            <p:cNvPr id="62" name="Straight Connector 61"/>
            <p:cNvCxnSpPr/>
            <p:nvPr/>
          </p:nvCxnSpPr>
          <p:spPr>
            <a:xfrm flipV="1">
              <a:off x="3748349" y="1787822"/>
              <a:ext cx="1286620" cy="1"/>
            </a:xfrm>
            <a:prstGeom prst="line">
              <a:avLst/>
            </a:prstGeom>
            <a:ln w="9525" cmpd="sng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Freeform 62"/>
          <p:cNvSpPr/>
          <p:nvPr/>
        </p:nvSpPr>
        <p:spPr>
          <a:xfrm>
            <a:off x="6685573" y="1245478"/>
            <a:ext cx="457383" cy="312315"/>
          </a:xfrm>
          <a:custGeom>
            <a:avLst/>
            <a:gdLst>
              <a:gd name="connsiteX0" fmla="*/ 0 w 457383"/>
              <a:gd name="connsiteY0" fmla="*/ 103174 h 312315"/>
              <a:gd name="connsiteX1" fmla="*/ 29195 w 457383"/>
              <a:gd name="connsiteY1" fmla="*/ 258890 h 312315"/>
              <a:gd name="connsiteX2" fmla="*/ 48658 w 457383"/>
              <a:gd name="connsiteY2" fmla="*/ 20450 h 312315"/>
              <a:gd name="connsiteX3" fmla="*/ 92450 w 457383"/>
              <a:gd name="connsiteY3" fmla="*/ 151835 h 312315"/>
              <a:gd name="connsiteX4" fmla="*/ 102181 w 457383"/>
              <a:gd name="connsiteY4" fmla="*/ 273489 h 312315"/>
              <a:gd name="connsiteX5" fmla="*/ 136242 w 457383"/>
              <a:gd name="connsiteY5" fmla="*/ 302685 h 312315"/>
              <a:gd name="connsiteX6" fmla="*/ 141108 w 457383"/>
              <a:gd name="connsiteY6" fmla="*/ 122639 h 312315"/>
              <a:gd name="connsiteX7" fmla="*/ 180034 w 457383"/>
              <a:gd name="connsiteY7" fmla="*/ 219961 h 312315"/>
              <a:gd name="connsiteX8" fmla="*/ 194631 w 457383"/>
              <a:gd name="connsiteY8" fmla="*/ 35048 h 312315"/>
              <a:gd name="connsiteX9" fmla="*/ 233557 w 457383"/>
              <a:gd name="connsiteY9" fmla="*/ 132371 h 312315"/>
              <a:gd name="connsiteX10" fmla="*/ 253020 w 457383"/>
              <a:gd name="connsiteY10" fmla="*/ 254024 h 312315"/>
              <a:gd name="connsiteX11" fmla="*/ 277349 w 457383"/>
              <a:gd name="connsiteY11" fmla="*/ 985 h 312315"/>
              <a:gd name="connsiteX12" fmla="*/ 316275 w 457383"/>
              <a:gd name="connsiteY12" fmla="*/ 171300 h 312315"/>
              <a:gd name="connsiteX13" fmla="*/ 360067 w 457383"/>
              <a:gd name="connsiteY13" fmla="*/ 297819 h 312315"/>
              <a:gd name="connsiteX14" fmla="*/ 369799 w 457383"/>
              <a:gd name="connsiteY14" fmla="*/ 122639 h 312315"/>
              <a:gd name="connsiteX15" fmla="*/ 423322 w 457383"/>
              <a:gd name="connsiteY15" fmla="*/ 142103 h 312315"/>
              <a:gd name="connsiteX16" fmla="*/ 457383 w 457383"/>
              <a:gd name="connsiteY16" fmla="*/ 254024 h 312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383" h="312315">
                <a:moveTo>
                  <a:pt x="0" y="103174"/>
                </a:moveTo>
                <a:cubicBezTo>
                  <a:pt x="10542" y="187925"/>
                  <a:pt x="21085" y="272677"/>
                  <a:pt x="29195" y="258890"/>
                </a:cubicBezTo>
                <a:cubicBezTo>
                  <a:pt x="37305" y="245103"/>
                  <a:pt x="38116" y="38292"/>
                  <a:pt x="48658" y="20450"/>
                </a:cubicBezTo>
                <a:cubicBezTo>
                  <a:pt x="59200" y="2608"/>
                  <a:pt x="83529" y="109662"/>
                  <a:pt x="92450" y="151835"/>
                </a:cubicBezTo>
                <a:cubicBezTo>
                  <a:pt x="101371" y="194008"/>
                  <a:pt x="94882" y="248347"/>
                  <a:pt x="102181" y="273489"/>
                </a:cubicBezTo>
                <a:cubicBezTo>
                  <a:pt x="109480" y="298631"/>
                  <a:pt x="129754" y="327827"/>
                  <a:pt x="136242" y="302685"/>
                </a:cubicBezTo>
                <a:cubicBezTo>
                  <a:pt x="142730" y="277543"/>
                  <a:pt x="133809" y="136426"/>
                  <a:pt x="141108" y="122639"/>
                </a:cubicBezTo>
                <a:cubicBezTo>
                  <a:pt x="148407" y="108852"/>
                  <a:pt x="171114" y="234559"/>
                  <a:pt x="180034" y="219961"/>
                </a:cubicBezTo>
                <a:cubicBezTo>
                  <a:pt x="188954" y="205363"/>
                  <a:pt x="185711" y="49646"/>
                  <a:pt x="194631" y="35048"/>
                </a:cubicBezTo>
                <a:cubicBezTo>
                  <a:pt x="203551" y="20450"/>
                  <a:pt x="223826" y="95875"/>
                  <a:pt x="233557" y="132371"/>
                </a:cubicBezTo>
                <a:cubicBezTo>
                  <a:pt x="243289" y="168867"/>
                  <a:pt x="245721" y="275922"/>
                  <a:pt x="253020" y="254024"/>
                </a:cubicBezTo>
                <a:cubicBezTo>
                  <a:pt x="260319" y="232126"/>
                  <a:pt x="266807" y="14772"/>
                  <a:pt x="277349" y="985"/>
                </a:cubicBezTo>
                <a:cubicBezTo>
                  <a:pt x="287892" y="-12802"/>
                  <a:pt x="302489" y="121828"/>
                  <a:pt x="316275" y="171300"/>
                </a:cubicBezTo>
                <a:cubicBezTo>
                  <a:pt x="330061" y="220772"/>
                  <a:pt x="351146" y="305929"/>
                  <a:pt x="360067" y="297819"/>
                </a:cubicBezTo>
                <a:cubicBezTo>
                  <a:pt x="368988" y="289709"/>
                  <a:pt x="359257" y="148592"/>
                  <a:pt x="369799" y="122639"/>
                </a:cubicBezTo>
                <a:cubicBezTo>
                  <a:pt x="380341" y="96686"/>
                  <a:pt x="408725" y="120205"/>
                  <a:pt x="423322" y="142103"/>
                </a:cubicBezTo>
                <a:cubicBezTo>
                  <a:pt x="437919" y="164001"/>
                  <a:pt x="457383" y="254024"/>
                  <a:pt x="457383" y="254024"/>
                </a:cubicBezTo>
              </a:path>
            </a:pathLst>
          </a:custGeom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Isosceles Triangle 63"/>
          <p:cNvSpPr/>
          <p:nvPr/>
        </p:nvSpPr>
        <p:spPr>
          <a:xfrm rot="5400000">
            <a:off x="7600334" y="1239294"/>
            <a:ext cx="535235" cy="324682"/>
          </a:xfrm>
          <a:prstGeom prst="triangle">
            <a:avLst/>
          </a:prstGeom>
          <a:solidFill>
            <a:schemeClr val="accent3">
              <a:lumMod val="75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/>
          <p:cNvCxnSpPr/>
          <p:nvPr/>
        </p:nvCxnSpPr>
        <p:spPr>
          <a:xfrm>
            <a:off x="7186744" y="1401635"/>
            <a:ext cx="518867" cy="0"/>
          </a:xfrm>
          <a:prstGeom prst="straightConnector1">
            <a:avLst/>
          </a:prstGeom>
          <a:ln w="3175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8030293" y="1401635"/>
            <a:ext cx="368028" cy="0"/>
          </a:xfrm>
          <a:prstGeom prst="straightConnector1">
            <a:avLst/>
          </a:prstGeom>
          <a:ln w="3175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7749405" y="943116"/>
            <a:ext cx="3900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Microsoft Sans Serif"/>
                <a:cs typeface="Microsoft Sans Serif"/>
              </a:rPr>
              <a:t>PA</a:t>
            </a:r>
            <a:endParaRPr lang="en-US" sz="1200" dirty="0">
              <a:latin typeface="Microsoft Sans Serif"/>
              <a:cs typeface="Microsoft Sans Serif"/>
            </a:endParaRPr>
          </a:p>
        </p:txBody>
      </p:sp>
      <p:grpSp>
        <p:nvGrpSpPr>
          <p:cNvPr id="73" name="Group 72"/>
          <p:cNvGrpSpPr/>
          <p:nvPr/>
        </p:nvGrpSpPr>
        <p:grpSpPr>
          <a:xfrm>
            <a:off x="660895" y="2200933"/>
            <a:ext cx="2477527" cy="818551"/>
            <a:chOff x="660895" y="1265080"/>
            <a:chExt cx="2477527" cy="818551"/>
          </a:xfrm>
        </p:grpSpPr>
        <p:cxnSp>
          <p:nvCxnSpPr>
            <p:cNvPr id="74" name="Straight Arrow Connector 73"/>
            <p:cNvCxnSpPr/>
            <p:nvPr/>
          </p:nvCxnSpPr>
          <p:spPr>
            <a:xfrm flipV="1">
              <a:off x="660895" y="1829717"/>
              <a:ext cx="2477527" cy="486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rapezoid 74"/>
            <p:cNvSpPr/>
            <p:nvPr/>
          </p:nvSpPr>
          <p:spPr>
            <a:xfrm>
              <a:off x="1616387" y="1542989"/>
              <a:ext cx="161984" cy="286728"/>
            </a:xfrm>
            <a:prstGeom prst="trapezoid">
              <a:avLst/>
            </a:prstGeom>
            <a:solidFill>
              <a:srgbClr val="F9ED59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6" name="Straight Connector 75"/>
            <p:cNvCxnSpPr>
              <a:stCxn id="75" idx="0"/>
              <a:endCxn id="75" idx="2"/>
            </p:cNvCxnSpPr>
            <p:nvPr/>
          </p:nvCxnSpPr>
          <p:spPr>
            <a:xfrm>
              <a:off x="1697379" y="1542989"/>
              <a:ext cx="0" cy="286728"/>
            </a:xfrm>
            <a:prstGeom prst="line">
              <a:avLst/>
            </a:prstGeom>
            <a:ln w="3175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/>
            <p:cNvSpPr txBox="1"/>
            <p:nvPr/>
          </p:nvSpPr>
          <p:spPr>
            <a:xfrm>
              <a:off x="764232" y="1806632"/>
              <a:ext cx="2786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 smtClean="0">
                  <a:latin typeface="Microsoft Sans Serif"/>
                  <a:cs typeface="Microsoft Sans Serif"/>
                </a:rPr>
                <a:t>f</a:t>
              </a:r>
              <a:r>
                <a:rPr lang="en-US" sz="1200" baseline="-25000" dirty="0" smtClean="0">
                  <a:latin typeface="Microsoft Sans Serif"/>
                  <a:cs typeface="Microsoft Sans Serif"/>
                </a:rPr>
                <a:t>1</a:t>
              </a:r>
              <a:endParaRPr lang="en-US" sz="1200" baseline="-25000" dirty="0">
                <a:latin typeface="Microsoft Sans Serif"/>
                <a:cs typeface="Microsoft Sans Serif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733529" y="1271966"/>
              <a:ext cx="3400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>
                  <a:latin typeface="Microsoft Sans Serif"/>
                  <a:cs typeface="Microsoft Sans Serif"/>
                </a:rPr>
                <a:t>S</a:t>
              </a:r>
              <a:r>
                <a:rPr lang="en-US" sz="1200" baseline="-25000" dirty="0" smtClean="0">
                  <a:latin typeface="Microsoft Sans Serif"/>
                  <a:cs typeface="Microsoft Sans Serif"/>
                </a:rPr>
                <a:t>1</a:t>
              </a:r>
              <a:endParaRPr lang="en-US" sz="1200" baseline="-25000" dirty="0">
                <a:latin typeface="Microsoft Sans Serif"/>
                <a:cs typeface="Microsoft Sans Serif"/>
              </a:endParaRPr>
            </a:p>
          </p:txBody>
        </p:sp>
        <p:sp>
          <p:nvSpPr>
            <p:cNvPr id="79" name="Trapezoid 78"/>
            <p:cNvSpPr/>
            <p:nvPr/>
          </p:nvSpPr>
          <p:spPr>
            <a:xfrm>
              <a:off x="778037" y="1542991"/>
              <a:ext cx="251001" cy="286728"/>
            </a:xfrm>
            <a:prstGeom prst="trapezoid">
              <a:avLst/>
            </a:prstGeom>
            <a:solidFill>
              <a:srgbClr val="F9ED59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0" name="Straight Connector 79"/>
            <p:cNvCxnSpPr>
              <a:stCxn id="79" idx="0"/>
              <a:endCxn id="79" idx="2"/>
            </p:cNvCxnSpPr>
            <p:nvPr/>
          </p:nvCxnSpPr>
          <p:spPr>
            <a:xfrm>
              <a:off x="903538" y="1542991"/>
              <a:ext cx="0" cy="286728"/>
            </a:xfrm>
            <a:prstGeom prst="line">
              <a:avLst/>
            </a:prstGeom>
            <a:ln w="3175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/>
            <p:cNvSpPr txBox="1"/>
            <p:nvPr/>
          </p:nvSpPr>
          <p:spPr>
            <a:xfrm>
              <a:off x="1558074" y="1806631"/>
              <a:ext cx="2786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 smtClean="0">
                  <a:latin typeface="Microsoft Sans Serif"/>
                  <a:cs typeface="Microsoft Sans Serif"/>
                </a:rPr>
                <a:t>f</a:t>
              </a:r>
              <a:r>
                <a:rPr lang="en-US" sz="1200" baseline="-25000" dirty="0">
                  <a:latin typeface="Microsoft Sans Serif"/>
                  <a:cs typeface="Microsoft Sans Serif"/>
                </a:rPr>
                <a:t>2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1527372" y="1271965"/>
              <a:ext cx="3400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 smtClean="0">
                  <a:latin typeface="Microsoft Sans Serif"/>
                  <a:cs typeface="Microsoft Sans Serif"/>
                </a:rPr>
                <a:t>S</a:t>
              </a:r>
              <a:r>
                <a:rPr lang="en-US" sz="1200" baseline="-25000" dirty="0">
                  <a:latin typeface="Microsoft Sans Serif"/>
                  <a:cs typeface="Microsoft Sans Serif"/>
                </a:rPr>
                <a:t>2</a:t>
              </a:r>
            </a:p>
          </p:txBody>
        </p:sp>
        <p:grpSp>
          <p:nvGrpSpPr>
            <p:cNvPr id="83" name="Group 82"/>
            <p:cNvGrpSpPr/>
            <p:nvPr/>
          </p:nvGrpSpPr>
          <p:grpSpPr>
            <a:xfrm>
              <a:off x="2538181" y="1536104"/>
              <a:ext cx="297638" cy="286728"/>
              <a:chOff x="1621385" y="2054619"/>
              <a:chExt cx="161984" cy="382304"/>
            </a:xfrm>
          </p:grpSpPr>
          <p:sp>
            <p:nvSpPr>
              <p:cNvPr id="86" name="Trapezoid 85"/>
              <p:cNvSpPr/>
              <p:nvPr/>
            </p:nvSpPr>
            <p:spPr>
              <a:xfrm>
                <a:off x="1621385" y="2054619"/>
                <a:ext cx="161984" cy="382304"/>
              </a:xfrm>
              <a:prstGeom prst="trapezoid">
                <a:avLst/>
              </a:prstGeom>
              <a:solidFill>
                <a:srgbClr val="F9ED59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7" name="Straight Connector 86"/>
              <p:cNvCxnSpPr>
                <a:stCxn id="86" idx="0"/>
                <a:endCxn id="86" idx="2"/>
              </p:cNvCxnSpPr>
              <p:nvPr/>
            </p:nvCxnSpPr>
            <p:spPr>
              <a:xfrm>
                <a:off x="1702377" y="2054619"/>
                <a:ext cx="0" cy="382304"/>
              </a:xfrm>
              <a:prstGeom prst="line">
                <a:avLst/>
              </a:prstGeom>
              <a:ln w="3175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" name="TextBox 83"/>
            <p:cNvSpPr txBox="1"/>
            <p:nvPr/>
          </p:nvSpPr>
          <p:spPr>
            <a:xfrm>
              <a:off x="2547696" y="1799746"/>
              <a:ext cx="2786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 smtClean="0">
                  <a:latin typeface="Microsoft Sans Serif"/>
                  <a:cs typeface="Microsoft Sans Serif"/>
                </a:rPr>
                <a:t>f</a:t>
              </a:r>
              <a:r>
                <a:rPr lang="en-US" sz="1200" baseline="-25000" dirty="0" smtClean="0">
                  <a:latin typeface="Microsoft Sans Serif"/>
                  <a:cs typeface="Microsoft Sans Serif"/>
                </a:rPr>
                <a:t>4</a:t>
              </a:r>
              <a:endParaRPr lang="en-US" sz="1200" baseline="-25000" dirty="0">
                <a:latin typeface="Microsoft Sans Serif"/>
                <a:cs typeface="Microsoft Sans Serif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2516994" y="1265080"/>
              <a:ext cx="3400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 smtClean="0">
                  <a:latin typeface="Microsoft Sans Serif"/>
                  <a:cs typeface="Microsoft Sans Serif"/>
                </a:rPr>
                <a:t>S</a:t>
              </a:r>
              <a:r>
                <a:rPr lang="en-US" sz="1200" baseline="-25000" dirty="0">
                  <a:latin typeface="Microsoft Sans Serif"/>
                  <a:cs typeface="Microsoft Sans Serif"/>
                </a:rPr>
                <a:t>3</a:t>
              </a:r>
            </a:p>
          </p:txBody>
        </p:sp>
      </p:grpSp>
      <p:sp>
        <p:nvSpPr>
          <p:cNvPr id="89" name="TextBox 88"/>
          <p:cNvSpPr txBox="1"/>
          <p:nvPr/>
        </p:nvSpPr>
        <p:spPr>
          <a:xfrm>
            <a:off x="850358" y="1790609"/>
            <a:ext cx="15605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i="1">
                <a:latin typeface="Microsoft Sans Serif"/>
                <a:cs typeface="Microsoft Sans Serif"/>
              </a:defRPr>
            </a:lvl1pPr>
          </a:lstStyle>
          <a:p>
            <a:pPr algn="r"/>
            <a:r>
              <a:rPr lang="en-US" sz="1000" dirty="0" smtClean="0"/>
              <a:t>S</a:t>
            </a:r>
            <a:r>
              <a:rPr lang="en-US" sz="1000" i="0" baseline="-25000" dirty="0" smtClean="0"/>
              <a:t>3</a:t>
            </a:r>
            <a:r>
              <a:rPr lang="en-US" sz="1000" i="0" dirty="0" smtClean="0"/>
              <a:t>(</a:t>
            </a:r>
            <a:r>
              <a:rPr lang="en-US" sz="1000" dirty="0" smtClean="0"/>
              <a:t>t </a:t>
            </a:r>
            <a:r>
              <a:rPr lang="en-US" sz="1000" i="0" dirty="0" smtClean="0"/>
              <a:t>) is moved to a new spectrum position:</a:t>
            </a:r>
          </a:p>
        </p:txBody>
      </p:sp>
      <p:cxnSp>
        <p:nvCxnSpPr>
          <p:cNvPr id="91" name="Straight Arrow Connector 90"/>
          <p:cNvCxnSpPr>
            <a:stCxn id="26" idx="2"/>
            <a:endCxn id="85" idx="0"/>
          </p:cNvCxnSpPr>
          <p:nvPr/>
        </p:nvCxnSpPr>
        <p:spPr>
          <a:xfrm>
            <a:off x="2184117" y="1718680"/>
            <a:ext cx="502886" cy="482253"/>
          </a:xfrm>
          <a:prstGeom prst="straightConnector1">
            <a:avLst/>
          </a:prstGeom>
          <a:ln w="12700" cmpd="sng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3177652" y="2300623"/>
            <a:ext cx="1834089" cy="861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i="1">
                <a:latin typeface="Microsoft Sans Serif"/>
                <a:cs typeface="Microsoft Sans Serif"/>
              </a:defRPr>
            </a:lvl1pPr>
          </a:lstStyle>
          <a:p>
            <a:r>
              <a:rPr lang="en-US" sz="1000" i="0" dirty="0" smtClean="0"/>
              <a:t>The power envelop of each individual signal segment doesn’t change even if the spectrum position of the segment is changed.</a:t>
            </a:r>
          </a:p>
        </p:txBody>
      </p:sp>
      <p:sp>
        <p:nvSpPr>
          <p:cNvPr id="93" name="Down Arrow 92"/>
          <p:cNvSpPr/>
          <p:nvPr/>
        </p:nvSpPr>
        <p:spPr>
          <a:xfrm>
            <a:off x="3955872" y="1883203"/>
            <a:ext cx="102181" cy="378492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/>
          <p:cNvSpPr txBox="1"/>
          <p:nvPr/>
        </p:nvSpPr>
        <p:spPr>
          <a:xfrm>
            <a:off x="5858604" y="2300025"/>
            <a:ext cx="2111530" cy="861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 i="0">
                <a:latin typeface="Microsoft Sans Serif"/>
                <a:cs typeface="Microsoft Sans Serif"/>
              </a:defRPr>
            </a:lvl1pPr>
          </a:lstStyle>
          <a:p>
            <a:pPr algn="l"/>
            <a:r>
              <a:rPr lang="en-US" dirty="0"/>
              <a:t>The power envelope upper bound for a</a:t>
            </a:r>
            <a:r>
              <a:rPr lang="en-US" dirty="0" smtClean="0"/>
              <a:t> </a:t>
            </a:r>
            <a:r>
              <a:rPr lang="en-US" dirty="0"/>
              <a:t>multi-segment sum signal doesn’t </a:t>
            </a:r>
            <a:r>
              <a:rPr lang="en-US" dirty="0" smtClean="0"/>
              <a:t>change, </a:t>
            </a:r>
            <a:r>
              <a:rPr lang="en-US" dirty="0"/>
              <a:t>even if the spectrum positions of individual segments </a:t>
            </a:r>
            <a:r>
              <a:rPr lang="en-US" dirty="0" smtClean="0"/>
              <a:t>are moved around.</a:t>
            </a:r>
            <a:endParaRPr lang="en-US" dirty="0"/>
          </a:p>
        </p:txBody>
      </p:sp>
      <p:sp>
        <p:nvSpPr>
          <p:cNvPr id="95" name="Right Arrow 94"/>
          <p:cNvSpPr/>
          <p:nvPr/>
        </p:nvSpPr>
        <p:spPr>
          <a:xfrm>
            <a:off x="5089598" y="2695846"/>
            <a:ext cx="671476" cy="9722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Box 95"/>
          <p:cNvSpPr txBox="1"/>
          <p:nvPr/>
        </p:nvSpPr>
        <p:spPr>
          <a:xfrm>
            <a:off x="669618" y="4468091"/>
            <a:ext cx="7845119" cy="24622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i="1">
                <a:latin typeface="Microsoft Sans Serif"/>
                <a:cs typeface="Microsoft Sans Serif"/>
              </a:defRPr>
            </a:lvl1pPr>
          </a:lstStyle>
          <a:p>
            <a:r>
              <a:rPr lang="en-US" sz="1000" b="1" u="sng" dirty="0" smtClean="0"/>
              <a:t>It is sufficient to investigate the peak-to-mean envelope power ratio (PMEPR) for signals of evenly divided and evenly spaced segments.  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11430" y="3442251"/>
            <a:ext cx="7419628" cy="55399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 i="0">
                <a:latin typeface="Microsoft Sans Serif"/>
                <a:cs typeface="Microsoft Sans Serif"/>
              </a:defRPr>
            </a:lvl1pPr>
          </a:lstStyle>
          <a:p>
            <a:r>
              <a:rPr lang="en-US" dirty="0"/>
              <a:t>The spectrum of unevenly divided segments and/or unevenly spaced segments can be constructed from </a:t>
            </a:r>
            <a:r>
              <a:rPr lang="en-US" dirty="0" smtClean="0"/>
              <a:t>an </a:t>
            </a:r>
            <a:r>
              <a:rPr lang="en-US" dirty="0"/>
              <a:t>evenly divided and </a:t>
            </a:r>
            <a:r>
              <a:rPr lang="en-US" dirty="0" smtClean="0"/>
              <a:t>evenly spaced multi-segments spectrum by moving the spectrum positions of individual or a group of segments. For example, </a:t>
            </a:r>
            <a:r>
              <a:rPr lang="en-US" i="1" dirty="0" smtClean="0"/>
              <a:t>S</a:t>
            </a:r>
            <a:r>
              <a:rPr lang="en-US" baseline="-25000" dirty="0" smtClean="0"/>
              <a:t>1</a:t>
            </a:r>
            <a:r>
              <a:rPr lang="en-US" dirty="0" smtClean="0"/>
              <a:t> is twice the bandwidth of </a:t>
            </a:r>
            <a:r>
              <a:rPr lang="en-US" i="1" dirty="0" smtClean="0"/>
              <a:t>S</a:t>
            </a:r>
            <a:r>
              <a:rPr lang="en-US" baseline="-25000" dirty="0" smtClean="0"/>
              <a:t>2,</a:t>
            </a:r>
            <a:r>
              <a:rPr lang="en-US" dirty="0" smtClean="0"/>
              <a:t> and </a:t>
            </a:r>
            <a:r>
              <a:rPr lang="en-US" i="1" dirty="0" smtClean="0"/>
              <a:t>S</a:t>
            </a:r>
            <a:r>
              <a:rPr lang="en-US" baseline="-25000" dirty="0" smtClean="0"/>
              <a:t>3</a:t>
            </a:r>
            <a:r>
              <a:rPr lang="en-US" dirty="0" smtClean="0"/>
              <a:t> is three times the bandwidth of </a:t>
            </a:r>
            <a:r>
              <a:rPr lang="en-US" i="1" dirty="0" smtClean="0"/>
              <a:t>S</a:t>
            </a:r>
            <a:r>
              <a:rPr lang="en-US" baseline="-25000" dirty="0" smtClean="0"/>
              <a:t>2</a:t>
            </a:r>
            <a:r>
              <a:rPr lang="en-US" dirty="0" smtClean="0"/>
              <a:t>. </a:t>
            </a:r>
            <a:endParaRPr lang="en-US" dirty="0"/>
          </a:p>
        </p:txBody>
      </p:sp>
      <p:sp>
        <p:nvSpPr>
          <p:cNvPr id="98" name="TextBox 97"/>
          <p:cNvSpPr txBox="1"/>
          <p:nvPr/>
        </p:nvSpPr>
        <p:spPr>
          <a:xfrm>
            <a:off x="188659" y="4165408"/>
            <a:ext cx="12253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000" i="0">
                <a:latin typeface="Microsoft Sans Serif"/>
                <a:cs typeface="Microsoft Sans Serif"/>
              </a:defRPr>
            </a:lvl1pPr>
          </a:lstStyle>
          <a:p>
            <a:r>
              <a:rPr lang="en-US" sz="1400" b="1" i="1" u="sng" dirty="0" smtClean="0"/>
              <a:t>Conclusion:</a:t>
            </a:r>
            <a:endParaRPr lang="en-US" sz="1400" b="1" i="1" u="sng" dirty="0"/>
          </a:p>
        </p:txBody>
      </p:sp>
    </p:spTree>
    <p:extLst>
      <p:ext uri="{BB962C8B-B14F-4D97-AF65-F5344CB8AC3E}">
        <p14:creationId xmlns:p14="http://schemas.microsoft.com/office/powerpoint/2010/main" val="2705533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1029</TotalTime>
  <Words>356</Words>
  <Application>Microsoft Macintosh PowerPoint</Application>
  <PresentationFormat>On-screen Show (16:9)</PresentationFormat>
  <Paragraphs>53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Motivation</vt:lpstr>
      <vt:lpstr>Proposed Transceiver Scheme</vt:lpstr>
      <vt:lpstr>Transmitter Power Amplifier</vt:lpstr>
      <vt:lpstr>PowerPoint Presentation</vt:lpstr>
    </vt:vector>
  </TitlesOfParts>
  <Company>USC ISI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Zhongren Cao</dc:creator>
  <cp:lastModifiedBy>Zhongren Cao</cp:lastModifiedBy>
  <cp:revision>27</cp:revision>
  <cp:lastPrinted>2014-09-17T19:00:36Z</cp:lastPrinted>
  <dcterms:created xsi:type="dcterms:W3CDTF">2014-09-17T01:57:23Z</dcterms:created>
  <dcterms:modified xsi:type="dcterms:W3CDTF">2014-09-17T19:10:33Z</dcterms:modified>
</cp:coreProperties>
</file>